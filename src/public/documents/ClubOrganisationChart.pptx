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9" r:id="rId2"/>
    <p:sldId id="257" r:id="rId3"/>
    <p:sldId id="258" r:id="rId4"/>
    <p:sldId id="262" r:id="rId5"/>
    <p:sldId id="263" r:id="rId6"/>
    <p:sldId id="264" r:id="rId7"/>
    <p:sldId id="260" r:id="rId8"/>
    <p:sldId id="261" r:id="rId9"/>
    <p:sldId id="25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A92186C-C012-4757-A254-4B3E7D3BEFA3}" v="1" dt="2026-08-18T07:36:51.7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59" d="100"/>
          <a:sy n="59" d="100"/>
        </p:scale>
        <p:origin x="94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cott muir" userId="ed8ed9a644fc0b3e" providerId="LiveId" clId="{06C48171-4D4F-49ED-888E-4F0C509B0C95}"/>
    <pc:docChg chg="custSel addSld modSld">
      <pc:chgData name="scott muir" userId="ed8ed9a644fc0b3e" providerId="LiveId" clId="{06C48171-4D4F-49ED-888E-4F0C509B0C95}" dt="2026-08-18T11:56:23.235" v="65" actId="20577"/>
      <pc:docMkLst>
        <pc:docMk/>
      </pc:docMkLst>
      <pc:sldChg chg="modSp mod">
        <pc:chgData name="scott muir" userId="ed8ed9a644fc0b3e" providerId="LiveId" clId="{06C48171-4D4F-49ED-888E-4F0C509B0C95}" dt="2026-08-18T11:39:11.101" v="1" actId="20577"/>
        <pc:sldMkLst>
          <pc:docMk/>
          <pc:sldMk cId="0" sldId="256"/>
        </pc:sldMkLst>
        <pc:spChg chg="mod">
          <ac:chgData name="scott muir" userId="ed8ed9a644fc0b3e" providerId="LiveId" clId="{06C48171-4D4F-49ED-888E-4F0C509B0C95}" dt="2026-08-18T11:39:11.101" v="1" actId="20577"/>
          <ac:spMkLst>
            <pc:docMk/>
            <pc:sldMk cId="0" sldId="256"/>
            <ac:spMk id="8" creationId="{00000000-0000-0000-0000-000000000000}"/>
          </ac:spMkLst>
        </pc:spChg>
      </pc:sldChg>
      <pc:sldChg chg="add">
        <pc:chgData name="scott muir" userId="ed8ed9a644fc0b3e" providerId="LiveId" clId="{06C48171-4D4F-49ED-888E-4F0C509B0C95}" dt="2026-08-18T11:48:48.755" v="2" actId="26606"/>
        <pc:sldMkLst>
          <pc:docMk/>
          <pc:sldMk cId="0" sldId="262"/>
        </pc:sldMkLst>
      </pc:sldChg>
      <pc:sldChg chg="add">
        <pc:chgData name="scott muir" userId="ed8ed9a644fc0b3e" providerId="LiveId" clId="{06C48171-4D4F-49ED-888E-4F0C509B0C95}" dt="2026-08-18T11:53:42.094" v="3" actId="26606"/>
        <pc:sldMkLst>
          <pc:docMk/>
          <pc:sldMk cId="0" sldId="263"/>
        </pc:sldMkLst>
      </pc:sldChg>
      <pc:sldChg chg="modSp add mod">
        <pc:chgData name="scott muir" userId="ed8ed9a644fc0b3e" providerId="LiveId" clId="{06C48171-4D4F-49ED-888E-4F0C509B0C95}" dt="2026-08-18T11:56:23.235" v="65" actId="20577"/>
        <pc:sldMkLst>
          <pc:docMk/>
          <pc:sldMk cId="0" sldId="264"/>
        </pc:sldMkLst>
        <pc:spChg chg="mod">
          <ac:chgData name="scott muir" userId="ed8ed9a644fc0b3e" providerId="LiveId" clId="{06C48171-4D4F-49ED-888E-4F0C509B0C95}" dt="2026-08-18T11:56:18.075" v="57" actId="20577"/>
          <ac:spMkLst>
            <pc:docMk/>
            <pc:sldMk cId="0" sldId="264"/>
            <ac:spMk id="14" creationId="{00000000-0000-0000-0000-000000000000}"/>
          </ac:spMkLst>
        </pc:spChg>
        <pc:spChg chg="mod">
          <ac:chgData name="scott muir" userId="ed8ed9a644fc0b3e" providerId="LiveId" clId="{06C48171-4D4F-49ED-888E-4F0C509B0C95}" dt="2026-08-18T11:56:23.235" v="65" actId="20577"/>
          <ac:spMkLst>
            <pc:docMk/>
            <pc:sldMk cId="0" sldId="264"/>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FA5CA-1609-4C42-B54E-03B3B83AF15F}" type="datetimeFigureOut">
              <a:rPr lang="en-GB" smtClean="0"/>
              <a:t>18/08/2026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4F8477-F7EF-4D62-BC8A-2B3A51881C7C}" type="slidenum">
              <a:rPr lang="en-GB" smtClean="0"/>
              <a:t>‹#›</a:t>
            </a:fld>
            <a:endParaRPr lang="en-GB"/>
          </a:p>
        </p:txBody>
      </p:sp>
    </p:spTree>
    <p:extLst>
      <p:ext uri="{BB962C8B-B14F-4D97-AF65-F5344CB8AC3E}">
        <p14:creationId xmlns:p14="http://schemas.microsoft.com/office/powerpoint/2010/main" val="20221027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34F8477-F7EF-4D62-BC8A-2B3A51881C7C}" type="slidenum">
              <a:rPr lang="en-GB" smtClean="0"/>
              <a:t>6</a:t>
            </a:fld>
            <a:endParaRPr lang="en-GB"/>
          </a:p>
        </p:txBody>
      </p:sp>
    </p:spTree>
    <p:extLst>
      <p:ext uri="{BB962C8B-B14F-4D97-AF65-F5344CB8AC3E}">
        <p14:creationId xmlns:p14="http://schemas.microsoft.com/office/powerpoint/2010/main" val="60020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306DBE-BDC6-F8B7-1A09-098433A408FB}"/>
              </a:ext>
            </a:extLst>
          </p:cNvPr>
          <p:cNvSpPr>
            <a:spLocks noGrp="1"/>
          </p:cNvSpPr>
          <p:nvPr>
            <p:ph type="ctrTitle"/>
          </p:nvPr>
        </p:nvSpPr>
        <p:spPr>
          <a:xfrm>
            <a:off x="599609" y="679731"/>
            <a:ext cx="4171994" cy="3736540"/>
          </a:xfrm>
        </p:spPr>
        <p:txBody>
          <a:bodyPr>
            <a:normAutofit/>
          </a:bodyPr>
          <a:lstStyle/>
          <a:p>
            <a:pPr algn="l"/>
            <a:r>
              <a:rPr lang="en-GB"/>
              <a:t>Club Development Plan 2026 / 27 Season</a:t>
            </a:r>
          </a:p>
        </p:txBody>
      </p:sp>
      <p:sp>
        <p:nvSpPr>
          <p:cNvPr id="3" name="Subtitle 2">
            <a:extLst>
              <a:ext uri="{FF2B5EF4-FFF2-40B4-BE49-F238E27FC236}">
                <a16:creationId xmlns:a16="http://schemas.microsoft.com/office/drawing/2014/main" id="{19135F27-9C43-7030-96A8-CFCBA8247E72}"/>
              </a:ext>
            </a:extLst>
          </p:cNvPr>
          <p:cNvSpPr>
            <a:spLocks noGrp="1"/>
          </p:cNvSpPr>
          <p:nvPr>
            <p:ph type="subTitle" idx="1"/>
          </p:nvPr>
        </p:nvSpPr>
        <p:spPr>
          <a:xfrm>
            <a:off x="599609" y="4685288"/>
            <a:ext cx="4171994" cy="1035781"/>
          </a:xfrm>
        </p:spPr>
        <p:txBody>
          <a:bodyPr>
            <a:normAutofit/>
          </a:bodyPr>
          <a:lstStyle/>
          <a:p>
            <a:pPr algn="l">
              <a:lnSpc>
                <a:spcPct val="90000"/>
              </a:lnSpc>
            </a:pPr>
            <a:r>
              <a:rPr lang="en-GB"/>
              <a:t>Coaching Structure and Ethos</a:t>
            </a:r>
          </a:p>
        </p:txBody>
      </p:sp>
      <p:grpSp>
        <p:nvGrpSpPr>
          <p:cNvPr id="22" name="Group 21">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23" name="Straight Connector 22">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original norstars_logo for Amy.png">
            <a:extLst>
              <a:ext uri="{FF2B5EF4-FFF2-40B4-BE49-F238E27FC236}">
                <a16:creationId xmlns:a16="http://schemas.microsoft.com/office/drawing/2014/main" id="{8C55829A-0CBC-8D81-EE5B-D4AB4E3C6E27}"/>
              </a:ext>
            </a:extLst>
          </p:cNvPr>
          <p:cNvPicPr>
            <a:picLocks noChangeAspect="1"/>
          </p:cNvPicPr>
          <p:nvPr/>
        </p:nvPicPr>
        <p:blipFill>
          <a:blip r:embed="rId2"/>
          <a:stretch>
            <a:fillRect/>
          </a:stretch>
        </p:blipFill>
        <p:spPr>
          <a:xfrm>
            <a:off x="5640572" y="1915416"/>
            <a:ext cx="5608830" cy="2916592"/>
          </a:xfrm>
          <a:prstGeom prst="rect">
            <a:avLst/>
          </a:prstGeom>
        </p:spPr>
      </p:pic>
    </p:spTree>
    <p:extLst>
      <p:ext uri="{BB962C8B-B14F-4D97-AF65-F5344CB8AC3E}">
        <p14:creationId xmlns:p14="http://schemas.microsoft.com/office/powerpoint/2010/main" val="23305455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dirty="0">
                <a:solidFill>
                  <a:srgbClr val="FFFFFF"/>
                </a:solidFill>
                <a:latin typeface="Trebuchet MS"/>
              </a:rPr>
              <a:t>Our Ethos</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dirty="0">
                <a:solidFill>
                  <a:srgbClr val="D1C4E9"/>
                </a:solidFill>
                <a:latin typeface="Trebuchet MS"/>
              </a:rPr>
              <a:t>Norstar Inline Hockey Club</a:t>
            </a:r>
          </a:p>
        </p:txBody>
      </p:sp>
      <p:sp>
        <p:nvSpPr>
          <p:cNvPr id="6" name="Body"/>
          <p:cNvSpPr txBox="1"/>
          <p:nvPr/>
        </p:nvSpPr>
        <p:spPr>
          <a:xfrm>
            <a:off x="685800" y="1828800"/>
            <a:ext cx="10820400" cy="3691890"/>
          </a:xfrm>
          <a:prstGeom prst="rect">
            <a:avLst/>
          </a:prstGeom>
          <a:noFill/>
        </p:spPr>
        <p:txBody>
          <a:bodyPr wrap="square" lIns="0" tIns="0" rIns="0" bIns="0" anchor="t">
            <a:normAutofit/>
          </a:bodyPr>
          <a:lstStyle/>
          <a:p>
            <a:pPr algn="l">
              <a:lnSpc>
                <a:spcPct val="100000"/>
              </a:lnSpc>
              <a:spcBef>
                <a:spcPts val="0"/>
              </a:spcBef>
            </a:pPr>
            <a:r>
              <a:rPr lang="en-GB" sz="2000" b="0" i="0" dirty="0">
                <a:solidFill>
                  <a:srgbClr val="3C3C3C"/>
                </a:solidFill>
                <a:latin typeface="Trebuchet MS"/>
              </a:rPr>
              <a:t>At Norstar Inline Hockey Club, our priority is the long-term development of every player in a positive, inclusive and enjoyable environment. </a:t>
            </a:r>
          </a:p>
          <a:p>
            <a:pPr algn="l">
              <a:lnSpc>
                <a:spcPct val="100000"/>
              </a:lnSpc>
              <a:spcBef>
                <a:spcPts val="0"/>
              </a:spcBef>
            </a:pPr>
            <a:endParaRPr lang="en-GB" sz="2000" dirty="0">
              <a:solidFill>
                <a:srgbClr val="3C3C3C"/>
              </a:solidFill>
              <a:latin typeface="Trebuchet MS"/>
            </a:endParaRPr>
          </a:p>
          <a:p>
            <a:pPr algn="l">
              <a:lnSpc>
                <a:spcPct val="100000"/>
              </a:lnSpc>
              <a:spcBef>
                <a:spcPts val="0"/>
              </a:spcBef>
            </a:pPr>
            <a:r>
              <a:rPr lang="en-GB" sz="2000" b="0" i="0" dirty="0">
                <a:solidFill>
                  <a:srgbClr val="3C3C3C"/>
                </a:solidFill>
                <a:latin typeface="Trebuchet MS"/>
              </a:rPr>
              <a:t>Guided by these principles we focus on age-appropriate skill acquisition, individual growth, and a lifelong love of the game. </a:t>
            </a:r>
          </a:p>
          <a:p>
            <a:pPr algn="l">
              <a:lnSpc>
                <a:spcPct val="100000"/>
              </a:lnSpc>
              <a:spcBef>
                <a:spcPts val="1200"/>
              </a:spcBef>
            </a:pPr>
            <a:r>
              <a:rPr lang="en-GB" sz="2000" b="0" i="0" dirty="0">
                <a:solidFill>
                  <a:srgbClr val="3C3C3C"/>
                </a:solidFill>
                <a:latin typeface="Trebuchet MS"/>
              </a:rPr>
              <a:t>Success is measured not only by results, but by the development of confident, skilled and respectful athletes who are encouraged to reach their full potential both on and off the rink.</a:t>
            </a:r>
          </a:p>
          <a:p>
            <a:pPr algn="l">
              <a:lnSpc>
                <a:spcPct val="100000"/>
              </a:lnSpc>
              <a:spcBef>
                <a:spcPts val="1200"/>
              </a:spcBef>
            </a:pPr>
            <a:r>
              <a:rPr lang="en-GB" sz="2000" b="0" i="0" dirty="0">
                <a:solidFill>
                  <a:srgbClr val="3C3C3C"/>
                </a:solidFill>
                <a:latin typeface="Trebuchet MS"/>
              </a:rPr>
              <a:t>Development of all </a:t>
            </a:r>
            <a:r>
              <a:rPr lang="en-GB" sz="2000" dirty="0">
                <a:solidFill>
                  <a:srgbClr val="3C3C3C"/>
                </a:solidFill>
                <a:latin typeface="Trebuchet MS"/>
              </a:rPr>
              <a:t>our</a:t>
            </a:r>
            <a:r>
              <a:rPr lang="en-GB" sz="2000" b="0" i="0" dirty="0">
                <a:solidFill>
                  <a:srgbClr val="3C3C3C"/>
                </a:solidFill>
                <a:latin typeface="Trebuchet MS"/>
              </a:rPr>
              <a:t> players rather than a focus on the select few. Creating depth and scope for </a:t>
            </a:r>
            <a:r>
              <a:rPr lang="en-GB" sz="2000" dirty="0">
                <a:solidFill>
                  <a:srgbClr val="3C3C3C"/>
                </a:solidFill>
                <a:latin typeface="Trebuchet MS"/>
              </a:rPr>
              <a:t>future success.</a:t>
            </a:r>
            <a:endParaRPr lang="en-GB" sz="2000" b="0" i="0" dirty="0">
              <a:solidFill>
                <a:srgbClr val="3C3C3C"/>
              </a:solidFill>
              <a:latin typeface="Trebuchet MS"/>
            </a:endParaRPr>
          </a:p>
          <a:p>
            <a:pPr algn="l">
              <a:lnSpc>
                <a:spcPct val="100000"/>
              </a:lnSpc>
              <a:spcBef>
                <a:spcPts val="1200"/>
              </a:spcBef>
            </a:pPr>
            <a:endParaRPr lang="en-GB" sz="2000" b="0" i="0" dirty="0">
              <a:solidFill>
                <a:srgbClr val="3C3C3C"/>
              </a:solidFill>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dirty="0">
                <a:solidFill>
                  <a:srgbClr val="FFFFFF"/>
                </a:solidFill>
                <a:latin typeface="Trebuchet MS"/>
              </a:rPr>
              <a:t>Our Focus</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dirty="0">
                <a:solidFill>
                  <a:srgbClr val="D1C4E9"/>
                </a:solidFill>
                <a:latin typeface="Trebuchet MS"/>
              </a:rPr>
              <a:t>What we prioritise, every session</a:t>
            </a: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Player development before results</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Age-appropriate training and competition</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Building strong fundamental skills</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Encouraging teamwork, respect and sportsmanship</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Creating a fun, safe and inclusive environment</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Supporting each player’s long-term growth and enjoyment of hockey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a:solidFill>
                  <a:srgbClr val="FFFFFF"/>
                </a:solidFill>
                <a:latin typeface="Trebuchet MS"/>
              </a:rPr>
              <a:t>U14 Academy Vision</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a:solidFill>
                  <a:srgbClr val="D1C4E9"/>
                </a:solidFill>
                <a:latin typeface="Trebuchet MS"/>
              </a:rPr>
              <a:t>Our ambitions for the season ahead</a:t>
            </a: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Defend our title as reigning champions</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Finish in the top four to secure a playoff spot</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Improve collectively as a group in all aspects of the game</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Raise standards in skating, puck skills and game sense</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Compete with discipline, resilience and respect</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Develop every player so the squad grows stronger together</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a:solidFill>
                  <a:srgbClr val="FFFFFF"/>
                </a:solidFill>
                <a:latin typeface="Trebuchet MS"/>
              </a:rPr>
              <a:t>U12 Vision</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a:solidFill>
                  <a:srgbClr val="D1C4E9"/>
                </a:solidFill>
                <a:latin typeface="Trebuchet MS"/>
              </a:rPr>
              <a:t>Our ambitions for the season ahead</a:t>
            </a: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Strive to reach the playoffs as a team</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Improvement first, results second</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Build strong foundational skills in every player</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Healthy, positive competition for selection</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Opportunities for everyone to be their best self</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Enjoy the game and grow together as a group</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3"/>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a:solidFill>
                  <a:srgbClr val="FFFFFF"/>
                </a:solidFill>
                <a:latin typeface="Trebuchet MS"/>
              </a:rPr>
              <a:t>One Club, One Vision</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a:solidFill>
                  <a:srgbClr val="D1C4E9"/>
                </a:solidFill>
                <a:latin typeface="Trebuchet MS"/>
              </a:rPr>
              <a:t>How our U12 and U14 pathways connect</a:t>
            </a: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A shared pathway from U12 foundations to U14 performance</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Development first at every age, results follow</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Consistent coaching standards across both squads</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a:solidFill>
                  <a:srgbClr val="4A148C"/>
                </a:solidFill>
                <a:latin typeface="Trebuchet MS"/>
              </a:rPr>
              <a:t>Healthy competition that raises the whole group</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Player Behaviours that translate into everyday habits</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spcBef>
                <a:spcPts val="0"/>
              </a:spcBef>
            </a:pPr>
            <a:r>
              <a:rPr lang="en-GB" sz="2000" b="1" i="0" dirty="0">
                <a:solidFill>
                  <a:srgbClr val="4A148C"/>
                </a:solidFill>
                <a:latin typeface="Trebuchet MS"/>
              </a:rPr>
              <a:t>Every player supported to be their best version of them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a:solidFill>
                  <a:srgbClr val="FFFFFF"/>
                </a:solidFill>
                <a:latin typeface="Trebuchet MS"/>
              </a:rPr>
              <a:t>How We Train</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dirty="0">
                <a:solidFill>
                  <a:srgbClr val="D1C4E9"/>
                </a:solidFill>
                <a:latin typeface="Trebuchet MS"/>
              </a:rPr>
              <a:t>Our training model</a:t>
            </a:r>
            <a:r>
              <a:rPr lang="en-GB" sz="1600" dirty="0">
                <a:solidFill>
                  <a:srgbClr val="D1C4E9"/>
                </a:solidFill>
                <a:latin typeface="Trebuchet MS"/>
              </a:rPr>
              <a:t>.</a:t>
            </a:r>
            <a:endParaRPr lang="en-GB" sz="1600" b="0" i="0" dirty="0">
              <a:solidFill>
                <a:srgbClr val="D1C4E9"/>
              </a:solidFill>
              <a:latin typeface="Trebuchet MS"/>
            </a:endParaRP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Station-based practices</a:t>
            </a:r>
          </a:p>
          <a:p>
            <a:pPr algn="ctr">
              <a:lnSpc>
                <a:spcPct val="100000"/>
              </a:lnSpc>
              <a:spcBef>
                <a:spcPts val="400"/>
              </a:spcBef>
            </a:pPr>
            <a:r>
              <a:rPr lang="en-GB" sz="1400" b="1" dirty="0">
                <a:solidFill>
                  <a:srgbClr val="3C3C3C"/>
                </a:solidFill>
                <a:latin typeface="Trebuchet MS"/>
              </a:rPr>
              <a:t>Small groups, short rotations, high repetition – everyone moving, no long queues</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Cross-hall and half-hall play</a:t>
            </a:r>
          </a:p>
          <a:p>
            <a:pPr algn="ctr">
              <a:lnSpc>
                <a:spcPct val="100000"/>
              </a:lnSpc>
              <a:spcBef>
                <a:spcPts val="400"/>
              </a:spcBef>
            </a:pPr>
            <a:r>
              <a:rPr lang="en-GB" sz="1400" b="1" dirty="0">
                <a:solidFill>
                  <a:srgbClr val="3C3C3C"/>
                </a:solidFill>
                <a:latin typeface="Trebuchet MS"/>
              </a:rPr>
              <a:t>Age-appropriate space for younger players: more touches, battles and confidence</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Small-area games</a:t>
            </a:r>
          </a:p>
          <a:p>
            <a:pPr algn="ctr">
              <a:lnSpc>
                <a:spcPct val="100000"/>
              </a:lnSpc>
              <a:spcBef>
                <a:spcPts val="400"/>
              </a:spcBef>
            </a:pPr>
            <a:r>
              <a:rPr lang="en-GB" sz="1400" b="1" dirty="0">
                <a:solidFill>
                  <a:srgbClr val="3C3C3C"/>
                </a:solidFill>
                <a:latin typeface="Trebuchet MS"/>
              </a:rPr>
              <a:t>Game-like decision making, creativity and puck skills under pressure</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Core skill blocks</a:t>
            </a:r>
          </a:p>
          <a:p>
            <a:pPr algn="ctr">
              <a:lnSpc>
                <a:spcPct val="100000"/>
              </a:lnSpc>
              <a:spcBef>
                <a:spcPts val="400"/>
              </a:spcBef>
            </a:pPr>
            <a:r>
              <a:rPr lang="en-GB" sz="1400" b="1" dirty="0">
                <a:solidFill>
                  <a:srgbClr val="3C3C3C"/>
                </a:solidFill>
                <a:latin typeface="Trebuchet MS"/>
              </a:rPr>
              <a:t>Skating, puck control, passing and shooting built into every session. Goalkeeper skills and fundamentals.</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Train more, play smart</a:t>
            </a:r>
          </a:p>
          <a:p>
            <a:pPr algn="ctr">
              <a:lnSpc>
                <a:spcPct val="100000"/>
              </a:lnSpc>
              <a:spcBef>
                <a:spcPts val="400"/>
              </a:spcBef>
            </a:pPr>
            <a:r>
              <a:rPr lang="en-GB" sz="1400" b="1" dirty="0">
                <a:solidFill>
                  <a:srgbClr val="3C3C3C"/>
                </a:solidFill>
                <a:latin typeface="Trebuchet MS"/>
              </a:rPr>
              <a:t>A practice-weighted weekly balance rather than a games-first schedule</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Long-term development</a:t>
            </a:r>
          </a:p>
          <a:p>
            <a:pPr algn="ctr">
              <a:lnSpc>
                <a:spcPct val="100000"/>
              </a:lnSpc>
              <a:spcBef>
                <a:spcPts val="400"/>
              </a:spcBef>
            </a:pPr>
            <a:r>
              <a:rPr lang="en-GB" sz="1400" b="1" dirty="0">
                <a:solidFill>
                  <a:srgbClr val="3C3C3C"/>
                </a:solidFill>
                <a:latin typeface="Trebuchet MS"/>
              </a:rPr>
              <a:t>Age-stage goals, seasonal progression and multi-sport encouragement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Header band"/>
          <p:cNvSpPr/>
          <p:nvPr/>
        </p:nvSpPr>
        <p:spPr>
          <a:xfrm>
            <a:off x="0" y="0"/>
            <a:ext cx="12192000" cy="1280160"/>
          </a:xfrm>
          <a:prstGeom prst="rect">
            <a:avLst/>
          </a:prstGeom>
          <a:solidFill>
            <a:srgbClr val="4A148C"/>
          </a:solidFill>
        </p:spPr>
        <p:txBody>
          <a:bodyPr/>
          <a:lstStyle/>
          <a:p>
            <a:endParaRPr lang="en-GB"/>
          </a:p>
        </p:txBody>
      </p:sp>
      <p:pic>
        <p:nvPicPr>
          <p:cNvPr id="3" name="Logo" descr="Norstar Inline Hockey Club logo"/>
          <p:cNvPicPr>
            <a:picLocks noChangeAspect="1"/>
          </p:cNvPicPr>
          <p:nvPr/>
        </p:nvPicPr>
        <p:blipFill>
          <a:blip r:embed="rId2"/>
          <a:stretch>
            <a:fillRect/>
          </a:stretch>
        </p:blipFill>
        <p:spPr>
          <a:xfrm>
            <a:off x="10058400" y="266700"/>
            <a:ext cx="1447800" cy="752760"/>
          </a:xfrm>
          <a:prstGeom prst="rect">
            <a:avLst/>
          </a:prstGeom>
        </p:spPr>
      </p:pic>
      <p:sp>
        <p:nvSpPr>
          <p:cNvPr id="4" name="Title"/>
          <p:cNvSpPr txBox="1"/>
          <p:nvPr/>
        </p:nvSpPr>
        <p:spPr>
          <a:xfrm>
            <a:off x="685800" y="381000"/>
            <a:ext cx="9000000" cy="520000"/>
          </a:xfrm>
          <a:prstGeom prst="rect">
            <a:avLst/>
          </a:prstGeom>
          <a:noFill/>
        </p:spPr>
        <p:txBody>
          <a:bodyPr wrap="square" lIns="0" tIns="0" rIns="0" bIns="0" anchor="t">
            <a:normAutofit fontScale="92500" lnSpcReduction="10000"/>
          </a:bodyPr>
          <a:lstStyle/>
          <a:p>
            <a:pPr algn="l">
              <a:lnSpc>
                <a:spcPct val="100000"/>
              </a:lnSpc>
              <a:spcBef>
                <a:spcPts val="0"/>
              </a:spcBef>
            </a:pPr>
            <a:r>
              <a:rPr lang="en-GB" sz="4000" b="1" i="0">
                <a:solidFill>
                  <a:srgbClr val="FFFFFF"/>
                </a:solidFill>
                <a:latin typeface="Trebuchet MS"/>
              </a:rPr>
              <a:t>Core Skills</a:t>
            </a:r>
          </a:p>
        </p:txBody>
      </p:sp>
      <p:sp>
        <p:nvSpPr>
          <p:cNvPr id="5" name="Sub"/>
          <p:cNvSpPr txBox="1"/>
          <p:nvPr/>
        </p:nvSpPr>
        <p:spPr>
          <a:xfrm>
            <a:off x="685800" y="929640"/>
            <a:ext cx="9000000" cy="300000"/>
          </a:xfrm>
          <a:prstGeom prst="rect">
            <a:avLst/>
          </a:prstGeom>
          <a:noFill/>
        </p:spPr>
        <p:txBody>
          <a:bodyPr wrap="square" lIns="0" tIns="0" rIns="0" bIns="0" anchor="t">
            <a:normAutofit/>
          </a:bodyPr>
          <a:lstStyle/>
          <a:p>
            <a:pPr algn="l">
              <a:lnSpc>
                <a:spcPct val="100000"/>
              </a:lnSpc>
              <a:spcBef>
                <a:spcPts val="0"/>
              </a:spcBef>
            </a:pPr>
            <a:r>
              <a:rPr lang="en-GB" sz="1600" b="0" i="0">
                <a:solidFill>
                  <a:srgbClr val="D1C4E9"/>
                </a:solidFill>
                <a:latin typeface="Trebuchet MS"/>
              </a:rPr>
              <a:t>The fundamentals we build in every age group</a:t>
            </a:r>
            <a:r>
              <a:rPr lang="en-GB" sz="1600">
                <a:solidFill>
                  <a:srgbClr val="D1C4E9"/>
                </a:solidFill>
                <a:latin typeface="Trebuchet MS"/>
              </a:rPr>
              <a:t>.</a:t>
            </a:r>
            <a:endParaRPr lang="en-GB" sz="1600" b="0" i="0">
              <a:solidFill>
                <a:srgbClr val="D1C4E9"/>
              </a:solidFill>
              <a:latin typeface="Trebuchet MS"/>
            </a:endParaRPr>
          </a:p>
        </p:txBody>
      </p:sp>
      <p:sp>
        <p:nvSpPr>
          <p:cNvPr id="10" name="Focus card"/>
          <p:cNvSpPr/>
          <p:nvPr/>
        </p:nvSpPr>
        <p:spPr>
          <a:xfrm>
            <a:off x="6858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Skating</a:t>
            </a:r>
          </a:p>
          <a:p>
            <a:pPr algn="ctr">
              <a:lnSpc>
                <a:spcPct val="100000"/>
              </a:lnSpc>
              <a:spcBef>
                <a:spcPts val="400"/>
              </a:spcBef>
            </a:pPr>
            <a:r>
              <a:rPr lang="en-GB" sz="1400" b="1" dirty="0">
                <a:solidFill>
                  <a:srgbClr val="3C3C3C"/>
                </a:solidFill>
                <a:latin typeface="Trebuchet MS"/>
              </a:rPr>
              <a:t>Efficient stride, changing direction, balance, agility and speed – the foundations every other skill is built on</a:t>
            </a:r>
          </a:p>
        </p:txBody>
      </p:sp>
      <p:sp>
        <p:nvSpPr>
          <p:cNvPr id="11" name="Focus card"/>
          <p:cNvSpPr/>
          <p:nvPr/>
        </p:nvSpPr>
        <p:spPr>
          <a:xfrm>
            <a:off x="6248400" y="179832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Puck Control</a:t>
            </a:r>
          </a:p>
          <a:p>
            <a:pPr algn="ctr">
              <a:lnSpc>
                <a:spcPct val="100000"/>
              </a:lnSpc>
              <a:spcBef>
                <a:spcPts val="400"/>
              </a:spcBef>
            </a:pPr>
            <a:r>
              <a:rPr lang="en-GB" sz="1400" b="1" dirty="0">
                <a:solidFill>
                  <a:srgbClr val="3C3C3C"/>
                </a:solidFill>
                <a:latin typeface="Trebuchet MS"/>
              </a:rPr>
              <a:t>Close stickhandling, protection and confidence carrying the puck under pressure</a:t>
            </a:r>
          </a:p>
        </p:txBody>
      </p:sp>
      <p:sp>
        <p:nvSpPr>
          <p:cNvPr id="12" name="Focus card"/>
          <p:cNvSpPr/>
          <p:nvPr/>
        </p:nvSpPr>
        <p:spPr>
          <a:xfrm>
            <a:off x="6858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Passing &amp; Receiving</a:t>
            </a:r>
          </a:p>
          <a:p>
            <a:pPr algn="ctr">
              <a:lnSpc>
                <a:spcPct val="100000"/>
              </a:lnSpc>
              <a:spcBef>
                <a:spcPts val="400"/>
              </a:spcBef>
            </a:pPr>
            <a:r>
              <a:rPr lang="en-GB" sz="1400" b="1" dirty="0">
                <a:solidFill>
                  <a:srgbClr val="3C3C3C"/>
                </a:solidFill>
                <a:latin typeface="Trebuchet MS"/>
              </a:rPr>
              <a:t>Accurate passes, soft hands and moving the puck quickly in tight space</a:t>
            </a:r>
          </a:p>
        </p:txBody>
      </p:sp>
      <p:sp>
        <p:nvSpPr>
          <p:cNvPr id="13" name="Focus card"/>
          <p:cNvSpPr/>
          <p:nvPr/>
        </p:nvSpPr>
        <p:spPr>
          <a:xfrm>
            <a:off x="6248400" y="326136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Shooting</a:t>
            </a:r>
          </a:p>
          <a:p>
            <a:pPr algn="ctr">
              <a:lnSpc>
                <a:spcPct val="100000"/>
              </a:lnSpc>
              <a:spcBef>
                <a:spcPts val="400"/>
              </a:spcBef>
            </a:pPr>
            <a:r>
              <a:rPr lang="en-GB" sz="1400" b="1" dirty="0">
                <a:solidFill>
                  <a:srgbClr val="3C3C3C"/>
                </a:solidFill>
                <a:latin typeface="Trebuchet MS"/>
              </a:rPr>
              <a:t>Shot variety, accuracy and quick release from a range of angles</a:t>
            </a:r>
          </a:p>
        </p:txBody>
      </p:sp>
      <p:sp>
        <p:nvSpPr>
          <p:cNvPr id="14" name="Focus card"/>
          <p:cNvSpPr/>
          <p:nvPr/>
        </p:nvSpPr>
        <p:spPr>
          <a:xfrm>
            <a:off x="6858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Hockey Sense</a:t>
            </a:r>
          </a:p>
          <a:p>
            <a:pPr algn="ctr">
              <a:lnSpc>
                <a:spcPct val="100000"/>
              </a:lnSpc>
              <a:spcBef>
                <a:spcPts val="400"/>
              </a:spcBef>
            </a:pPr>
            <a:r>
              <a:rPr lang="en-GB" sz="1400" b="1" dirty="0">
                <a:solidFill>
                  <a:srgbClr val="3C3C3C"/>
                </a:solidFill>
                <a:latin typeface="Trebuchet MS"/>
              </a:rPr>
              <a:t>Reading play, support, positioning and smart decisions with and without the puck</a:t>
            </a:r>
          </a:p>
        </p:txBody>
      </p:sp>
      <p:sp>
        <p:nvSpPr>
          <p:cNvPr id="15" name="Focus card"/>
          <p:cNvSpPr/>
          <p:nvPr/>
        </p:nvSpPr>
        <p:spPr>
          <a:xfrm>
            <a:off x="6248400" y="4724400"/>
            <a:ext cx="5257800" cy="1371600"/>
          </a:xfrm>
          <a:prstGeom prst="roundRect">
            <a:avLst>
              <a:gd name="adj" fmla="val 12000"/>
            </a:avLst>
          </a:prstGeom>
          <a:solidFill>
            <a:srgbClr val="FFFFFF"/>
          </a:solidFill>
          <a:ln w="19050">
            <a:solidFill>
              <a:srgbClr val="B39DDB"/>
            </a:solidFill>
          </a:ln>
        </p:spPr>
        <p:txBody>
          <a:bodyPr wrap="square" lIns="228600" tIns="137160" rIns="228600" bIns="137160" anchor="ctr">
            <a:normAutofit/>
          </a:bodyPr>
          <a:lstStyle/>
          <a:p>
            <a:pPr algn="ctr">
              <a:lnSpc>
                <a:spcPct val="100000"/>
              </a:lnSpc>
            </a:pPr>
            <a:r>
              <a:rPr lang="en-GB" sz="2000" b="1" dirty="0">
                <a:solidFill>
                  <a:srgbClr val="4A148C"/>
                </a:solidFill>
                <a:latin typeface="Trebuchet MS"/>
              </a:rPr>
              <a:t>Compete &amp; Confidence</a:t>
            </a:r>
          </a:p>
          <a:p>
            <a:pPr algn="ctr">
              <a:lnSpc>
                <a:spcPct val="100000"/>
              </a:lnSpc>
              <a:spcBef>
                <a:spcPts val="400"/>
              </a:spcBef>
            </a:pPr>
            <a:r>
              <a:rPr lang="en-GB" sz="1400" b="1" dirty="0">
                <a:solidFill>
                  <a:srgbClr val="3C3C3C"/>
                </a:solidFill>
                <a:latin typeface="Trebuchet MS"/>
              </a:rPr>
              <a:t>Battle skills, resilience and the courage to try, fail and improve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3" name="Picture 2" descr="original norstars_logo for Amy.png"/>
          <p:cNvPicPr>
            <a:picLocks noChangeAspect="1"/>
          </p:cNvPicPr>
          <p:nvPr/>
        </p:nvPicPr>
        <p:blipFill>
          <a:blip r:embed="rId2"/>
          <a:stretch>
            <a:fillRect/>
          </a:stretch>
        </p:blipFill>
        <p:spPr>
          <a:xfrm>
            <a:off x="584122" y="284362"/>
            <a:ext cx="2814398" cy="1463040"/>
          </a:xfrm>
          <a:prstGeom prst="rect">
            <a:avLst/>
          </a:prstGeom>
        </p:spPr>
      </p:pic>
      <p:sp>
        <p:nvSpPr>
          <p:cNvPr id="4" name="Rounded Rectangle 3"/>
          <p:cNvSpPr/>
          <p:nvPr/>
        </p:nvSpPr>
        <p:spPr>
          <a:xfrm>
            <a:off x="3840480" y="914400"/>
            <a:ext cx="4206240" cy="731520"/>
          </a:xfrm>
          <a:prstGeom prst="roundRect">
            <a:avLst/>
          </a:prstGeom>
          <a:solidFill>
            <a:srgbClr val="4A148C"/>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Club Chairman</a:t>
            </a:r>
          </a:p>
          <a:p>
            <a:pPr>
              <a:defRPr sz="1600" b="1">
                <a:solidFill>
                  <a:srgbClr val="FFFFFF"/>
                </a:solidFill>
              </a:defRPr>
            </a:pPr>
            <a:r>
              <a:rPr dirty="0"/>
              <a:t>Club Coaching Co-Ordinator</a:t>
            </a:r>
            <a:r>
              <a:rPr lang="en-GB" dirty="0"/>
              <a:t> – Scott Muir</a:t>
            </a:r>
            <a:endParaRPr dirty="0"/>
          </a:p>
        </p:txBody>
      </p:sp>
      <p:sp>
        <p:nvSpPr>
          <p:cNvPr id="5" name="Rounded Rectangle 4"/>
          <p:cNvSpPr/>
          <p:nvPr/>
        </p:nvSpPr>
        <p:spPr>
          <a:xfrm>
            <a:off x="914400" y="2194560"/>
            <a:ext cx="3657600" cy="640080"/>
          </a:xfrm>
          <a:prstGeom prst="roundRect">
            <a:avLst/>
          </a:prstGeom>
          <a:solidFill>
            <a:srgbClr val="7B1FA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t>U12 Norstar</a:t>
            </a:r>
          </a:p>
        </p:txBody>
      </p:sp>
      <p:sp>
        <p:nvSpPr>
          <p:cNvPr id="6" name="Rounded Rectangle 5"/>
          <p:cNvSpPr/>
          <p:nvPr/>
        </p:nvSpPr>
        <p:spPr>
          <a:xfrm>
            <a:off x="7406640" y="2194560"/>
            <a:ext cx="3657600" cy="640080"/>
          </a:xfrm>
          <a:prstGeom prst="roundRect">
            <a:avLst/>
          </a:prstGeom>
          <a:solidFill>
            <a:srgbClr val="7B1FA2"/>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U14 Norstar Academy</a:t>
            </a:r>
          </a:p>
        </p:txBody>
      </p:sp>
      <p:sp>
        <p:nvSpPr>
          <p:cNvPr id="7" name="Rounded Rectangle 6"/>
          <p:cNvSpPr/>
          <p:nvPr/>
        </p:nvSpPr>
        <p:spPr>
          <a:xfrm>
            <a:off x="1371600" y="3200400"/>
            <a:ext cx="2743200" cy="1645920"/>
          </a:xfrm>
          <a:prstGeom prst="roundRect">
            <a:avLst/>
          </a:prstGeom>
          <a:solidFill>
            <a:srgbClr val="9575CD"/>
          </a:solidFill>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FFFFFF"/>
                </a:solidFill>
              </a:defRPr>
            </a:pPr>
            <a:endParaRPr lang="en-GB" dirty="0"/>
          </a:p>
          <a:p>
            <a:pPr>
              <a:defRPr sz="1600" b="1">
                <a:solidFill>
                  <a:srgbClr val="FFFFFF"/>
                </a:solidFill>
              </a:defRPr>
            </a:pPr>
            <a:endParaRPr lang="en-GB" dirty="0"/>
          </a:p>
          <a:p>
            <a:pPr>
              <a:defRPr sz="1600" b="1">
                <a:solidFill>
                  <a:srgbClr val="FFFFFF"/>
                </a:solidFill>
              </a:defRPr>
            </a:pPr>
            <a:r>
              <a:rPr dirty="0"/>
              <a:t>Head Coach</a:t>
            </a:r>
            <a:r>
              <a:rPr lang="en-GB" dirty="0"/>
              <a:t> – Ivan Troy</a:t>
            </a:r>
          </a:p>
          <a:p>
            <a:pPr>
              <a:defRPr sz="1600" b="1">
                <a:solidFill>
                  <a:srgbClr val="FFFFFF"/>
                </a:solidFill>
              </a:defRPr>
            </a:pPr>
            <a:r>
              <a:rPr lang="en-GB" dirty="0"/>
              <a:t>Coaches –</a:t>
            </a:r>
          </a:p>
          <a:p>
            <a:pPr>
              <a:defRPr sz="1600" b="1">
                <a:solidFill>
                  <a:srgbClr val="FFFFFF"/>
                </a:solidFill>
              </a:defRPr>
            </a:pPr>
            <a:r>
              <a:rPr lang="en-GB" dirty="0"/>
              <a:t>David</a:t>
            </a:r>
          </a:p>
          <a:p>
            <a:pPr>
              <a:defRPr sz="1600" b="1">
                <a:solidFill>
                  <a:srgbClr val="FFFFFF"/>
                </a:solidFill>
              </a:defRPr>
            </a:pPr>
            <a:r>
              <a:rPr lang="en-GB" dirty="0"/>
              <a:t>Jonny </a:t>
            </a:r>
          </a:p>
          <a:p>
            <a:pPr>
              <a:defRPr sz="1600" b="1">
                <a:solidFill>
                  <a:srgbClr val="FFFFFF"/>
                </a:solidFill>
              </a:defRPr>
            </a:pPr>
            <a:r>
              <a:rPr lang="en-GB" dirty="0"/>
              <a:t>Andrew</a:t>
            </a:r>
          </a:p>
          <a:p>
            <a:pPr>
              <a:defRPr sz="1600" b="1">
                <a:solidFill>
                  <a:srgbClr val="FFFFFF"/>
                </a:solidFill>
              </a:defRPr>
            </a:pPr>
            <a:r>
              <a:rPr lang="en-GB" dirty="0"/>
              <a:t>Scott</a:t>
            </a:r>
          </a:p>
          <a:p>
            <a:pPr>
              <a:defRPr sz="1600" b="1">
                <a:solidFill>
                  <a:srgbClr val="FFFFFF"/>
                </a:solidFill>
              </a:defRPr>
            </a:pPr>
            <a:endParaRPr lang="en-GB" dirty="0"/>
          </a:p>
          <a:p>
            <a:pPr>
              <a:defRPr sz="1600" b="1">
                <a:solidFill>
                  <a:srgbClr val="FFFFFF"/>
                </a:solidFill>
              </a:defRPr>
            </a:pPr>
            <a:endParaRPr dirty="0"/>
          </a:p>
        </p:txBody>
      </p:sp>
      <p:sp>
        <p:nvSpPr>
          <p:cNvPr id="8" name="Rounded Rectangle 7"/>
          <p:cNvSpPr/>
          <p:nvPr/>
        </p:nvSpPr>
        <p:spPr>
          <a:xfrm>
            <a:off x="7863840" y="3200400"/>
            <a:ext cx="2743200" cy="1645920"/>
          </a:xfrm>
          <a:prstGeom prst="roundRect">
            <a:avLst/>
          </a:prstGeom>
          <a:solidFill>
            <a:srgbClr val="9575CD"/>
          </a:solidFill>
        </p:spPr>
        <p:style>
          <a:lnRef idx="1">
            <a:schemeClr val="accent1"/>
          </a:lnRef>
          <a:fillRef idx="3">
            <a:schemeClr val="accent1"/>
          </a:fillRef>
          <a:effectRef idx="2">
            <a:schemeClr val="accent1"/>
          </a:effectRef>
          <a:fontRef idx="minor">
            <a:schemeClr val="lt1"/>
          </a:fontRef>
        </p:style>
        <p:txBody>
          <a:bodyPr rtlCol="0" anchor="ctr"/>
          <a:lstStyle/>
          <a:p>
            <a:pPr>
              <a:defRPr sz="1600" b="1">
                <a:solidFill>
                  <a:srgbClr val="FFFFFF"/>
                </a:solidFill>
              </a:defRPr>
            </a:pPr>
            <a:r>
              <a:rPr dirty="0"/>
              <a:t>Head Coach</a:t>
            </a:r>
            <a:r>
              <a:rPr lang="en-GB" dirty="0"/>
              <a:t> – Jozef Fotta</a:t>
            </a:r>
          </a:p>
          <a:p>
            <a:pPr>
              <a:defRPr sz="1600" b="1">
                <a:solidFill>
                  <a:srgbClr val="FFFFFF"/>
                </a:solidFill>
              </a:defRPr>
            </a:pPr>
            <a:r>
              <a:rPr lang="en-GB" dirty="0"/>
              <a:t>Coaches-</a:t>
            </a:r>
          </a:p>
          <a:p>
            <a:pPr>
              <a:defRPr sz="1600" b="1">
                <a:solidFill>
                  <a:srgbClr val="FFFFFF"/>
                </a:solidFill>
              </a:defRPr>
            </a:pPr>
            <a:r>
              <a:rPr lang="en-GB" dirty="0"/>
              <a:t> Scott</a:t>
            </a:r>
          </a:p>
          <a:p>
            <a:pPr>
              <a:defRPr sz="1600" b="1">
                <a:solidFill>
                  <a:srgbClr val="FFFFFF"/>
                </a:solidFill>
              </a:defRPr>
            </a:pPr>
            <a:r>
              <a:rPr lang="en-GB" dirty="0"/>
              <a:t>Stephen</a:t>
            </a:r>
          </a:p>
          <a:p>
            <a:pPr>
              <a:defRPr sz="1600" b="1">
                <a:solidFill>
                  <a:srgbClr val="FFFFFF"/>
                </a:solidFill>
              </a:defRPr>
            </a:pPr>
            <a:r>
              <a:rPr lang="en-GB" dirty="0"/>
              <a:t> Ciaran</a:t>
            </a:r>
          </a:p>
          <a:p>
            <a:pPr>
              <a:defRPr sz="1600" b="1">
                <a:solidFill>
                  <a:srgbClr val="FFFFFF"/>
                </a:solidFill>
              </a:defRPr>
            </a:pPr>
            <a:r>
              <a:rPr lang="en-GB" dirty="0"/>
              <a:t>Alex</a:t>
            </a:r>
            <a:endParaRPr dirty="0"/>
          </a:p>
        </p:txBody>
      </p:sp>
      <p:sp>
        <p:nvSpPr>
          <p:cNvPr id="9" name="Rounded Rectangle 8"/>
          <p:cNvSpPr/>
          <p:nvPr/>
        </p:nvSpPr>
        <p:spPr>
          <a:xfrm>
            <a:off x="4526280" y="3198223"/>
            <a:ext cx="2834640" cy="1737360"/>
          </a:xfrm>
          <a:prstGeom prst="roundRect">
            <a:avLst/>
          </a:prstGeom>
          <a:solidFill>
            <a:schemeClr val="accent4">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lang="en-GB" dirty="0">
                <a:solidFill>
                  <a:schemeClr val="accent4"/>
                </a:solidFill>
              </a:rPr>
              <a:t>Club Support Staff</a:t>
            </a:r>
          </a:p>
          <a:p>
            <a:pPr algn="ctr">
              <a:defRPr sz="1600" b="1">
                <a:solidFill>
                  <a:srgbClr val="FFFFFF"/>
                </a:solidFill>
              </a:defRPr>
            </a:pPr>
            <a:endParaRPr lang="en-GB" dirty="0">
              <a:solidFill>
                <a:schemeClr val="accent4"/>
              </a:solidFill>
            </a:endParaRPr>
          </a:p>
          <a:p>
            <a:pPr>
              <a:defRPr sz="1600" b="1">
                <a:solidFill>
                  <a:srgbClr val="FFFFFF"/>
                </a:solidFill>
              </a:defRPr>
            </a:pPr>
            <a:r>
              <a:rPr lang="en-GB" dirty="0">
                <a:solidFill>
                  <a:schemeClr val="accent4"/>
                </a:solidFill>
              </a:rPr>
              <a:t>Club Secretary – Wendy Muir</a:t>
            </a:r>
          </a:p>
          <a:p>
            <a:pPr>
              <a:defRPr sz="1600" b="1">
                <a:solidFill>
                  <a:srgbClr val="FFFFFF"/>
                </a:solidFill>
              </a:defRPr>
            </a:pPr>
            <a:r>
              <a:rPr lang="en-GB" dirty="0">
                <a:solidFill>
                  <a:schemeClr val="accent4"/>
                </a:solidFill>
              </a:rPr>
              <a:t>Child Protection Staff – </a:t>
            </a:r>
          </a:p>
          <a:p>
            <a:pPr>
              <a:defRPr sz="1600" b="1">
                <a:solidFill>
                  <a:srgbClr val="FFFFFF"/>
                </a:solidFill>
              </a:defRPr>
            </a:pPr>
            <a:r>
              <a:rPr lang="en-GB" dirty="0">
                <a:solidFill>
                  <a:schemeClr val="accent4"/>
                </a:solidFill>
              </a:rPr>
              <a:t>Caroline Morrison</a:t>
            </a:r>
          </a:p>
          <a:p>
            <a:pPr>
              <a:defRPr sz="1600" b="1">
                <a:solidFill>
                  <a:srgbClr val="FFFFFF"/>
                </a:solidFill>
              </a:defRPr>
            </a:pPr>
            <a:r>
              <a:rPr lang="en-GB" dirty="0">
                <a:solidFill>
                  <a:schemeClr val="accent4"/>
                </a:solidFill>
              </a:rPr>
              <a:t>Shauna Browne </a:t>
            </a:r>
          </a:p>
        </p:txBody>
      </p:sp>
      <p:sp>
        <p:nvSpPr>
          <p:cNvPr id="10" name="Rounded Rectangle 9"/>
          <p:cNvSpPr/>
          <p:nvPr/>
        </p:nvSpPr>
        <p:spPr>
          <a:xfrm>
            <a:off x="3246120" y="5307874"/>
            <a:ext cx="1737360" cy="640080"/>
          </a:xfrm>
          <a:prstGeom prst="roundRect">
            <a:avLst/>
          </a:prstGeom>
          <a:solidFill>
            <a:srgbClr val="B39DD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Team Manager 2</a:t>
            </a:r>
            <a:endParaRPr lang="en-GB" dirty="0"/>
          </a:p>
          <a:p>
            <a:pPr>
              <a:defRPr sz="1600" b="1">
                <a:solidFill>
                  <a:srgbClr val="FFFFFF"/>
                </a:solidFill>
              </a:defRPr>
            </a:pPr>
            <a:r>
              <a:rPr lang="en-GB" dirty="0"/>
              <a:t>Jamie Corsby</a:t>
            </a:r>
            <a:endParaRPr dirty="0"/>
          </a:p>
        </p:txBody>
      </p:sp>
      <p:sp>
        <p:nvSpPr>
          <p:cNvPr id="11" name="Rounded Rectangle 10"/>
          <p:cNvSpPr/>
          <p:nvPr/>
        </p:nvSpPr>
        <p:spPr>
          <a:xfrm>
            <a:off x="6995160" y="5303520"/>
            <a:ext cx="1737360" cy="640080"/>
          </a:xfrm>
          <a:prstGeom prst="roundRect">
            <a:avLst/>
          </a:prstGeom>
          <a:solidFill>
            <a:srgbClr val="B39DD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lang="en-GB" dirty="0"/>
              <a:t>Team Manager 1</a:t>
            </a:r>
          </a:p>
          <a:p>
            <a:pPr algn="ctr">
              <a:defRPr sz="1600" b="1">
                <a:solidFill>
                  <a:srgbClr val="FFFFFF"/>
                </a:solidFill>
              </a:defRPr>
            </a:pPr>
            <a:r>
              <a:rPr lang="en-GB" dirty="0"/>
              <a:t>Renata Kazulek</a:t>
            </a:r>
            <a:endParaRPr dirty="0"/>
          </a:p>
        </p:txBody>
      </p:sp>
      <p:sp>
        <p:nvSpPr>
          <p:cNvPr id="12" name="Rounded Rectangle 11"/>
          <p:cNvSpPr/>
          <p:nvPr/>
        </p:nvSpPr>
        <p:spPr>
          <a:xfrm>
            <a:off x="9738360" y="5249091"/>
            <a:ext cx="1737360" cy="640080"/>
          </a:xfrm>
          <a:prstGeom prst="roundRect">
            <a:avLst/>
          </a:prstGeom>
          <a:solidFill>
            <a:srgbClr val="B39DD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Team Manager 2</a:t>
            </a:r>
            <a:endParaRPr lang="en-GB" dirty="0"/>
          </a:p>
          <a:p>
            <a:pPr algn="ctr">
              <a:defRPr sz="1600" b="1">
                <a:solidFill>
                  <a:srgbClr val="FFFFFF"/>
                </a:solidFill>
              </a:defRPr>
            </a:pPr>
            <a:r>
              <a:rPr lang="en-GB" dirty="0"/>
              <a:t>Karen Dickey</a:t>
            </a:r>
            <a:endParaRPr dirty="0"/>
          </a:p>
        </p:txBody>
      </p:sp>
      <p:pic>
        <p:nvPicPr>
          <p:cNvPr id="2" name="Picture 1">
            <a:extLst>
              <a:ext uri="{FF2B5EF4-FFF2-40B4-BE49-F238E27FC236}">
                <a16:creationId xmlns:a16="http://schemas.microsoft.com/office/drawing/2014/main" id="{E222F761-22DC-0625-FD19-E58DEB8E8E72}"/>
              </a:ext>
            </a:extLst>
          </p:cNvPr>
          <p:cNvPicPr>
            <a:picLocks noChangeAspect="1"/>
          </p:cNvPicPr>
          <p:nvPr/>
        </p:nvPicPr>
        <p:blipFill>
          <a:blip r:embed="rId3"/>
          <a:stretch>
            <a:fillRect/>
          </a:stretch>
        </p:blipFill>
        <p:spPr>
          <a:xfrm>
            <a:off x="9294143" y="239976"/>
            <a:ext cx="1551813" cy="1551813"/>
          </a:xfrm>
          <a:prstGeom prst="rect">
            <a:avLst/>
          </a:prstGeom>
        </p:spPr>
      </p:pic>
      <p:sp>
        <p:nvSpPr>
          <p:cNvPr id="14" name="Rounded Rectangle 8">
            <a:extLst>
              <a:ext uri="{FF2B5EF4-FFF2-40B4-BE49-F238E27FC236}">
                <a16:creationId xmlns:a16="http://schemas.microsoft.com/office/drawing/2014/main" id="{041ADF94-0CF2-399B-1E0C-5EA2B59FA518}"/>
              </a:ext>
            </a:extLst>
          </p:cNvPr>
          <p:cNvSpPr/>
          <p:nvPr/>
        </p:nvSpPr>
        <p:spPr>
          <a:xfrm>
            <a:off x="578031" y="5401491"/>
            <a:ext cx="1891937" cy="640080"/>
          </a:xfrm>
          <a:prstGeom prst="roundRect">
            <a:avLst/>
          </a:prstGeom>
          <a:solidFill>
            <a:srgbClr val="B39DDB"/>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defRPr>
            </a:pPr>
            <a:r>
              <a:rPr dirty="0"/>
              <a:t>Team Manager 1</a:t>
            </a:r>
            <a:endParaRPr lang="en-GB" dirty="0"/>
          </a:p>
          <a:p>
            <a:pPr>
              <a:defRPr sz="1600" b="1">
                <a:solidFill>
                  <a:srgbClr val="FFFFFF"/>
                </a:solidFill>
              </a:defRPr>
            </a:pPr>
            <a:r>
              <a:rPr lang="en-GB" dirty="0"/>
              <a:t>Louise Glenholmes</a:t>
            </a: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610</Words>
  <Application>Microsoft Office PowerPoint</Application>
  <PresentationFormat>Widescreen</PresentationFormat>
  <Paragraphs>102</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Trebuchet MS</vt:lpstr>
      <vt:lpstr>Office Theme</vt:lpstr>
      <vt:lpstr>Club Development Plan 2026 / 27 Season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M365 Copilot</dc:creator>
  <cp:keywords/>
  <dc:description>generated using python-pptx</dc:description>
  <cp:lastModifiedBy>scott muir</cp:lastModifiedBy>
  <cp:revision>3</cp:revision>
  <dcterms:created xsi:type="dcterms:W3CDTF">2026-08-18T07:24:07Z</dcterms:created>
  <dcterms:modified xsi:type="dcterms:W3CDTF">2026-08-18T11:59:22Z</dcterms:modified>
  <cp:category/>
</cp:coreProperties>
</file>